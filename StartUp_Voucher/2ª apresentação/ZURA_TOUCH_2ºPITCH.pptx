
<file path=[Content_Types].xml><?xml version="1.0" encoding="utf-8"?>
<Types xmlns="http://schemas.openxmlformats.org/package/2006/content-types">
  <Default Extension="gif" ContentType="image/gi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3" r:id="rId5"/>
    <p:sldId id="262" r:id="rId6"/>
    <p:sldId id="261" r:id="rId7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>
      <p:cViewPr varScale="1">
        <p:scale>
          <a:sx n="79" d="100"/>
          <a:sy n="79" d="100"/>
        </p:scale>
        <p:origin x="216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199123" y="2408047"/>
            <a:ext cx="5683884" cy="3636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3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3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3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3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23061" y="366878"/>
            <a:ext cx="7071359" cy="2607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3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hyperlink" Target="mailto:info@zuratouch.pt" TargetMode="External"/><Relationship Id="rId5" Type="http://schemas.openxmlformats.org/officeDocument/2006/relationships/image" Target="../media/image5.png"/><Relationship Id="rId10" Type="http://schemas.openxmlformats.org/officeDocument/2006/relationships/hyperlink" Target="http://www.zuratouch.pt/" TargetMode="External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jp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gif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>
            <a:grpSpLocks noGrp="1" noUngrp="1" noRot="1" noMove="1" noResize="1"/>
          </p:cNvGrpSpPr>
          <p:nvPr/>
        </p:nvGrpSpPr>
        <p:grpSpPr>
          <a:xfrm>
            <a:off x="0" y="0"/>
            <a:ext cx="18364200" cy="10286999"/>
            <a:chOff x="24384" y="0"/>
            <a:chExt cx="18364200" cy="10286999"/>
          </a:xfrm>
        </p:grpSpPr>
        <p:pic>
          <p:nvPicPr>
            <p:cNvPr id="3" name="object 3"/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384" y="0"/>
              <a:ext cx="18364200" cy="10286999"/>
            </a:xfrm>
            <a:prstGeom prst="rect">
              <a:avLst/>
            </a:prstGeom>
          </p:spPr>
        </p:pic>
        <p:pic>
          <p:nvPicPr>
            <p:cNvPr id="4" name="object 4"/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52973" y="0"/>
              <a:ext cx="7040626" cy="3236722"/>
            </a:xfrm>
            <a:prstGeom prst="rect">
              <a:avLst/>
            </a:prstGeom>
          </p:spPr>
        </p:pic>
        <p:pic>
          <p:nvPicPr>
            <p:cNvPr id="5" name="object 5"/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138275" y="3072638"/>
              <a:ext cx="4149725" cy="4470526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329055" y="1497583"/>
            <a:ext cx="6917055" cy="40824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5969"/>
              </a:lnSpc>
              <a:spcBef>
                <a:spcPts val="105"/>
              </a:spcBef>
            </a:pPr>
            <a:r>
              <a:rPr sz="14000" spc="1695" dirty="0"/>
              <a:t>Z</a:t>
            </a:r>
            <a:r>
              <a:rPr sz="14000" spc="1685" dirty="0"/>
              <a:t>U</a:t>
            </a:r>
            <a:r>
              <a:rPr sz="14000" spc="1680" dirty="0"/>
              <a:t>R</a:t>
            </a:r>
            <a:r>
              <a:rPr sz="14000" spc="-20" dirty="0"/>
              <a:t>A</a:t>
            </a:r>
            <a:endParaRPr sz="14000"/>
          </a:p>
          <a:p>
            <a:pPr marL="12700">
              <a:lnSpc>
                <a:spcPts val="15969"/>
              </a:lnSpc>
            </a:pPr>
            <a:r>
              <a:rPr sz="14000" b="0" spc="1105" dirty="0">
                <a:solidFill>
                  <a:srgbClr val="F83B81"/>
                </a:solidFill>
                <a:latin typeface="Arial MT"/>
                <a:cs typeface="Arial MT"/>
              </a:rPr>
              <a:t>T</a:t>
            </a:r>
            <a:r>
              <a:rPr sz="14000" b="0" spc="1110" dirty="0">
                <a:solidFill>
                  <a:srgbClr val="F83B81"/>
                </a:solidFill>
                <a:latin typeface="Arial MT"/>
                <a:cs typeface="Arial MT"/>
              </a:rPr>
              <a:t>O</a:t>
            </a:r>
            <a:r>
              <a:rPr sz="14000" b="0" spc="1105" dirty="0">
                <a:solidFill>
                  <a:srgbClr val="F83B81"/>
                </a:solidFill>
                <a:latin typeface="Arial MT"/>
                <a:cs typeface="Arial MT"/>
              </a:rPr>
              <a:t>UC</a:t>
            </a:r>
            <a:r>
              <a:rPr sz="14000" b="0" spc="-10" dirty="0">
                <a:solidFill>
                  <a:srgbClr val="F83B81"/>
                </a:solidFill>
                <a:latin typeface="Arial MT"/>
                <a:cs typeface="Arial MT"/>
              </a:rPr>
              <a:t>H</a:t>
            </a:r>
            <a:endParaRPr sz="140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127760" y="0"/>
            <a:ext cx="16875758" cy="10071352"/>
            <a:chOff x="1127760" y="0"/>
            <a:chExt cx="16875758" cy="10071352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706599" y="0"/>
              <a:ext cx="3296919" cy="197472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27760" y="8333231"/>
              <a:ext cx="784097" cy="64084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27760" y="8698992"/>
              <a:ext cx="784097" cy="64084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27760" y="9064752"/>
              <a:ext cx="784097" cy="64084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27760" y="9430511"/>
              <a:ext cx="784097" cy="640841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800860" y="8400668"/>
            <a:ext cx="247840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 MT"/>
                <a:cs typeface="Arial MT"/>
                <a:hlinkClick r:id="rId10"/>
              </a:rPr>
              <a:t>www.zuratouch.pt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 MT"/>
                <a:cs typeface="Arial MT"/>
                <a:hlinkClick r:id="rId11"/>
              </a:rPr>
              <a:t>info@zuratouch.pt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+351</a:t>
            </a:r>
            <a:r>
              <a:rPr sz="240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931</a:t>
            </a:r>
            <a:r>
              <a:rPr sz="24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708</a:t>
            </a:r>
            <a:r>
              <a:rPr sz="24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796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Porto,</a:t>
            </a:r>
            <a:r>
              <a:rPr sz="24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Portugal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45208" y="5429757"/>
            <a:ext cx="57899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Founders:</a:t>
            </a:r>
            <a:r>
              <a:rPr sz="24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Diogo</a:t>
            </a:r>
            <a:r>
              <a:rPr sz="2400" b="1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Gomes</a:t>
            </a:r>
            <a:r>
              <a:rPr sz="24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24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Dinis</a:t>
            </a:r>
            <a:r>
              <a:rPr sz="24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Gomes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CE8CBD3A-2AB3-F203-ECB5-0EFB6E80964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72323" y="7550027"/>
            <a:ext cx="3832859" cy="1595178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750D5560-9A0A-64E5-A8D3-C4AA3CEE002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85588" y="9552399"/>
            <a:ext cx="9096900" cy="8703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699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22842" y="1114805"/>
              <a:ext cx="8608314" cy="245948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21191" y="3992498"/>
              <a:ext cx="8609965" cy="265887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22842" y="7069404"/>
              <a:ext cx="8608314" cy="245948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3689721"/>
              <a:ext cx="9463023" cy="6597267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1387" rIns="0" bIns="0" rtlCol="0">
            <a:spAutoFit/>
          </a:bodyPr>
          <a:lstStyle/>
          <a:p>
            <a:pPr marL="204470">
              <a:lnSpc>
                <a:spcPct val="100000"/>
              </a:lnSpc>
              <a:spcBef>
                <a:spcPts val="95"/>
              </a:spcBef>
            </a:pPr>
            <a:r>
              <a:rPr spc="610" dirty="0"/>
              <a:t>T</a:t>
            </a:r>
            <a:r>
              <a:rPr spc="625" dirty="0"/>
              <a:t>H</a:t>
            </a:r>
            <a:r>
              <a:rPr dirty="0"/>
              <a:t>E</a:t>
            </a:r>
            <a:r>
              <a:rPr spc="430" dirty="0"/>
              <a:t> </a:t>
            </a:r>
            <a:r>
              <a:rPr spc="730" dirty="0"/>
              <a:t>P</a:t>
            </a:r>
            <a:r>
              <a:rPr spc="725" dirty="0"/>
              <a:t>R</a:t>
            </a:r>
            <a:r>
              <a:rPr spc="735" dirty="0"/>
              <a:t>O</a:t>
            </a:r>
            <a:r>
              <a:rPr spc="730" dirty="0"/>
              <a:t>B</a:t>
            </a:r>
            <a:r>
              <a:rPr spc="725" dirty="0"/>
              <a:t>L</a:t>
            </a:r>
            <a:r>
              <a:rPr spc="740" dirty="0"/>
              <a:t>E</a:t>
            </a:r>
            <a:r>
              <a:rPr spc="-50" dirty="0"/>
              <a:t>M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0672698" y="7830439"/>
            <a:ext cx="4665980" cy="434734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65"/>
              </a:spcBef>
            </a:pPr>
            <a:endParaRPr sz="2800" dirty="0"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730610" y="1864232"/>
            <a:ext cx="4295140" cy="131762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 marR="5080">
              <a:lnSpc>
                <a:spcPct val="101499"/>
              </a:lnSpc>
              <a:spcBef>
                <a:spcPts val="45"/>
              </a:spcBef>
            </a:pPr>
            <a:r>
              <a:rPr sz="2800" b="1" spc="175" dirty="0">
                <a:solidFill>
                  <a:srgbClr val="FFFFFF"/>
                </a:solidFill>
                <a:latin typeface="Roboto"/>
                <a:cs typeface="Roboto"/>
              </a:rPr>
              <a:t>TRADITIONAL</a:t>
            </a:r>
            <a:r>
              <a:rPr sz="2800" b="1" spc="114" dirty="0">
                <a:solidFill>
                  <a:srgbClr val="FFFFFF"/>
                </a:solidFill>
                <a:latin typeface="Roboto"/>
                <a:cs typeface="Roboto"/>
              </a:rPr>
              <a:t>  </a:t>
            </a:r>
            <a:r>
              <a:rPr sz="2800" b="1" spc="60" dirty="0">
                <a:solidFill>
                  <a:srgbClr val="FFFFFF"/>
                </a:solidFill>
                <a:latin typeface="Roboto"/>
                <a:cs typeface="Roboto"/>
              </a:rPr>
              <a:t>VENDING </a:t>
            </a:r>
            <a:r>
              <a:rPr sz="2800" b="1" spc="200" dirty="0">
                <a:solidFill>
                  <a:srgbClr val="FFFFFF"/>
                </a:solidFill>
                <a:latin typeface="Roboto"/>
                <a:cs typeface="Roboto"/>
              </a:rPr>
              <a:t>THAT</a:t>
            </a:r>
            <a:r>
              <a:rPr sz="2800" b="1" spc="52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800" b="1" spc="60" dirty="0">
                <a:solidFill>
                  <a:srgbClr val="FFFFFF"/>
                </a:solidFill>
                <a:latin typeface="Roboto"/>
                <a:cs typeface="Roboto"/>
              </a:rPr>
              <a:t>DOESN’T</a:t>
            </a:r>
            <a:r>
              <a:rPr sz="2800" b="1" spc="65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800" b="1" spc="95" dirty="0">
                <a:solidFill>
                  <a:srgbClr val="FFFFFF"/>
                </a:solidFill>
                <a:latin typeface="Roboto"/>
                <a:cs typeface="Roboto"/>
              </a:rPr>
              <a:t>STAND </a:t>
            </a:r>
            <a:r>
              <a:rPr sz="2800" b="1" spc="40" dirty="0">
                <a:solidFill>
                  <a:srgbClr val="FFFFFF"/>
                </a:solidFill>
                <a:latin typeface="Roboto"/>
                <a:cs typeface="Roboto"/>
              </a:rPr>
              <a:t>OUT</a:t>
            </a:r>
            <a:endParaRPr sz="2800">
              <a:latin typeface="Roboto"/>
              <a:cs typeface="Robot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209319" y="1499616"/>
            <a:ext cx="9903460" cy="8178800"/>
            <a:chOff x="1209319" y="1499616"/>
            <a:chExt cx="9903460" cy="8178800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28888" y="7371587"/>
              <a:ext cx="2483357" cy="212369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10243" y="1499616"/>
              <a:ext cx="2183129" cy="19636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021190" y="4689094"/>
              <a:ext cx="1892046" cy="145313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09319" y="2154453"/>
              <a:ext cx="5642483" cy="7523353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0706227" y="4901260"/>
            <a:ext cx="4712970" cy="8959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ts val="3490"/>
              </a:lnSpc>
              <a:spcBef>
                <a:spcPts val="70"/>
              </a:spcBef>
            </a:pPr>
            <a:r>
              <a:rPr sz="2800" b="1" spc="105" dirty="0">
                <a:solidFill>
                  <a:srgbClr val="FFFFFF"/>
                </a:solidFill>
                <a:latin typeface="Roboto"/>
                <a:cs typeface="Roboto"/>
              </a:rPr>
              <a:t>LACK</a:t>
            </a:r>
            <a:r>
              <a:rPr sz="2800" b="1" spc="3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800" b="1" dirty="0">
                <a:solidFill>
                  <a:srgbClr val="FFFFFF"/>
                </a:solidFill>
                <a:latin typeface="Roboto"/>
                <a:cs typeface="Roboto"/>
              </a:rPr>
              <a:t>OF</a:t>
            </a:r>
            <a:r>
              <a:rPr sz="2800" b="1" spc="32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800" b="1" spc="120" dirty="0">
                <a:solidFill>
                  <a:srgbClr val="FFFFFF"/>
                </a:solidFill>
                <a:latin typeface="Roboto"/>
                <a:cs typeface="Roboto"/>
              </a:rPr>
              <a:t>TECHNOLOGICAL </a:t>
            </a:r>
            <a:r>
              <a:rPr sz="2800" b="1" spc="114" dirty="0">
                <a:solidFill>
                  <a:srgbClr val="FFFFFF"/>
                </a:solidFill>
                <a:latin typeface="Roboto"/>
                <a:cs typeface="Roboto"/>
              </a:rPr>
              <a:t>INNOVATION</a:t>
            </a:r>
            <a:endParaRPr sz="2800" dirty="0">
              <a:latin typeface="Roboto"/>
              <a:cs typeface="Roboto"/>
            </a:endParaRPr>
          </a:p>
        </p:txBody>
      </p:sp>
      <p:sp>
        <p:nvSpPr>
          <p:cNvPr id="18" name="object 16">
            <a:extLst>
              <a:ext uri="{FF2B5EF4-FFF2-40B4-BE49-F238E27FC236}">
                <a16:creationId xmlns:a16="http://schemas.microsoft.com/office/drawing/2014/main" id="{B71BCBEF-73FA-A322-346F-9F6BEC78DC5A}"/>
              </a:ext>
            </a:extLst>
          </p:cNvPr>
          <p:cNvSpPr txBox="1"/>
          <p:nvPr/>
        </p:nvSpPr>
        <p:spPr>
          <a:xfrm>
            <a:off x="10637740" y="7851151"/>
            <a:ext cx="4907060" cy="884216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ts val="3490"/>
              </a:lnSpc>
              <a:spcBef>
                <a:spcPts val="70"/>
              </a:spcBef>
            </a:pPr>
            <a:r>
              <a:rPr lang="pt-PT" sz="2800" b="1" spc="114" dirty="0">
                <a:solidFill>
                  <a:srgbClr val="FFFFFF"/>
                </a:solidFill>
                <a:latin typeface="Roboto"/>
                <a:cs typeface="Roboto"/>
              </a:rPr>
              <a:t>LOW PROFIT MARGINS FOR VENDING OPERATORS</a:t>
            </a:r>
            <a:endParaRPr lang="pt-PT" sz="28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76200" y="-114300"/>
            <a:ext cx="18440400" cy="10401296"/>
            <a:chOff x="0" y="-114300"/>
            <a:chExt cx="18440400" cy="10401296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14300"/>
              <a:ext cx="18440400" cy="1040129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6363842" cy="460184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693015" y="0"/>
              <a:ext cx="5594984" cy="368871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3691" y="1215771"/>
              <a:ext cx="16620617" cy="303149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194930" y="5929756"/>
              <a:ext cx="12896215" cy="952500"/>
            </a:xfrm>
            <a:custGeom>
              <a:avLst/>
              <a:gdLst/>
              <a:ahLst/>
              <a:cxnLst/>
              <a:rect l="l" t="t" r="r" b="b"/>
              <a:pathLst>
                <a:path w="12896215" h="952500">
                  <a:moveTo>
                    <a:pt x="952512" y="190500"/>
                  </a:moveTo>
                  <a:lnTo>
                    <a:pt x="938034" y="117602"/>
                  </a:lnTo>
                  <a:lnTo>
                    <a:pt x="896759" y="55753"/>
                  </a:lnTo>
                  <a:lnTo>
                    <a:pt x="834910" y="14478"/>
                  </a:lnTo>
                  <a:lnTo>
                    <a:pt x="762012" y="0"/>
                  </a:lnTo>
                  <a:lnTo>
                    <a:pt x="190512" y="0"/>
                  </a:lnTo>
                  <a:lnTo>
                    <a:pt x="117614" y="14478"/>
                  </a:lnTo>
                  <a:lnTo>
                    <a:pt x="55803" y="55753"/>
                  </a:lnTo>
                  <a:lnTo>
                    <a:pt x="14503" y="117602"/>
                  </a:lnTo>
                  <a:lnTo>
                    <a:pt x="0" y="190500"/>
                  </a:lnTo>
                  <a:lnTo>
                    <a:pt x="0" y="762000"/>
                  </a:lnTo>
                  <a:lnTo>
                    <a:pt x="14503" y="834898"/>
                  </a:lnTo>
                  <a:lnTo>
                    <a:pt x="55803" y="896747"/>
                  </a:lnTo>
                  <a:lnTo>
                    <a:pt x="117614" y="938022"/>
                  </a:lnTo>
                  <a:lnTo>
                    <a:pt x="190512" y="952500"/>
                  </a:lnTo>
                  <a:lnTo>
                    <a:pt x="762012" y="952500"/>
                  </a:lnTo>
                  <a:lnTo>
                    <a:pt x="834910" y="938022"/>
                  </a:lnTo>
                  <a:lnTo>
                    <a:pt x="896759" y="896747"/>
                  </a:lnTo>
                  <a:lnTo>
                    <a:pt x="938034" y="834898"/>
                  </a:lnTo>
                  <a:lnTo>
                    <a:pt x="952512" y="762000"/>
                  </a:lnTo>
                  <a:lnTo>
                    <a:pt x="952512" y="190500"/>
                  </a:lnTo>
                  <a:close/>
                </a:path>
                <a:path w="12896215" h="952500">
                  <a:moveTo>
                    <a:pt x="12895974" y="190500"/>
                  </a:moveTo>
                  <a:lnTo>
                    <a:pt x="12881496" y="117602"/>
                  </a:lnTo>
                  <a:lnTo>
                    <a:pt x="12840221" y="55753"/>
                  </a:lnTo>
                  <a:lnTo>
                    <a:pt x="12778372" y="14478"/>
                  </a:lnTo>
                  <a:lnTo>
                    <a:pt x="12705474" y="0"/>
                  </a:lnTo>
                  <a:lnTo>
                    <a:pt x="12133974" y="0"/>
                  </a:lnTo>
                  <a:lnTo>
                    <a:pt x="12061076" y="14478"/>
                  </a:lnTo>
                  <a:lnTo>
                    <a:pt x="11999354" y="55753"/>
                  </a:lnTo>
                  <a:lnTo>
                    <a:pt x="11957952" y="117602"/>
                  </a:lnTo>
                  <a:lnTo>
                    <a:pt x="11943474" y="190500"/>
                  </a:lnTo>
                  <a:lnTo>
                    <a:pt x="11943474" y="762000"/>
                  </a:lnTo>
                  <a:lnTo>
                    <a:pt x="11957952" y="834898"/>
                  </a:lnTo>
                  <a:lnTo>
                    <a:pt x="11999354" y="896747"/>
                  </a:lnTo>
                  <a:lnTo>
                    <a:pt x="12061076" y="938022"/>
                  </a:lnTo>
                  <a:lnTo>
                    <a:pt x="12133974" y="952500"/>
                  </a:lnTo>
                  <a:lnTo>
                    <a:pt x="12705474" y="952500"/>
                  </a:lnTo>
                  <a:lnTo>
                    <a:pt x="12778372" y="938022"/>
                  </a:lnTo>
                  <a:lnTo>
                    <a:pt x="12840221" y="896747"/>
                  </a:lnTo>
                  <a:lnTo>
                    <a:pt x="12881496" y="834898"/>
                  </a:lnTo>
                  <a:lnTo>
                    <a:pt x="12895974" y="762000"/>
                  </a:lnTo>
                  <a:lnTo>
                    <a:pt x="12895974" y="190500"/>
                  </a:lnTo>
                  <a:close/>
                </a:path>
              </a:pathLst>
            </a:custGeom>
            <a:solidFill>
              <a:srgbClr val="E12C6D"/>
            </a:solidFill>
          </p:spPr>
          <p:txBody>
            <a:bodyPr wrap="square" lIns="0" tIns="0" rIns="0" bIns="0" rtlCol="0"/>
            <a:lstStyle/>
            <a:p>
              <a:endParaRPr u="sng"/>
            </a:p>
          </p:txBody>
        </p:sp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75107" y="5733288"/>
              <a:ext cx="1873757" cy="153390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50975" y="1944623"/>
              <a:ext cx="8391144" cy="1505712"/>
            </a:xfrm>
            <a:prstGeom prst="rect">
              <a:avLst/>
            </a:prstGeom>
          </p:spPr>
        </p:pic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341247" y="1993468"/>
            <a:ext cx="7465059" cy="1137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790" dirty="0"/>
              <a:t>O</a:t>
            </a:r>
            <a:r>
              <a:rPr spc="785" dirty="0"/>
              <a:t>U</a:t>
            </a:r>
            <a:r>
              <a:rPr spc="-50" dirty="0"/>
              <a:t>R</a:t>
            </a:r>
            <a:r>
              <a:rPr spc="670" dirty="0"/>
              <a:t> </a:t>
            </a:r>
            <a:r>
              <a:rPr spc="680" dirty="0"/>
              <a:t>S</a:t>
            </a:r>
            <a:r>
              <a:rPr spc="685" dirty="0"/>
              <a:t>O</a:t>
            </a:r>
            <a:r>
              <a:rPr spc="675" dirty="0"/>
              <a:t>LU</a:t>
            </a:r>
            <a:r>
              <a:rPr spc="680" dirty="0"/>
              <a:t>T</a:t>
            </a:r>
            <a:r>
              <a:rPr spc="690" dirty="0"/>
              <a:t>I</a:t>
            </a:r>
            <a:r>
              <a:rPr spc="685" dirty="0"/>
              <a:t>O</a:t>
            </a:r>
            <a:r>
              <a:rPr spc="-50" dirty="0"/>
              <a:t>N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833691" y="5802757"/>
            <a:ext cx="7329805" cy="1360170"/>
            <a:chOff x="833691" y="5802757"/>
            <a:chExt cx="7329805" cy="1360170"/>
          </a:xfrm>
        </p:grpSpPr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3691" y="5802757"/>
              <a:ext cx="1661922" cy="136017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70775" y="5929757"/>
              <a:ext cx="1192529" cy="1023493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959002" y="7130033"/>
            <a:ext cx="4161154" cy="86931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>
              <a:lnSpc>
                <a:spcPts val="3290"/>
              </a:lnSpc>
              <a:spcBef>
                <a:spcPts val="265"/>
              </a:spcBef>
            </a:pPr>
            <a:r>
              <a:rPr sz="2800" b="1" dirty="0">
                <a:solidFill>
                  <a:srgbClr val="FFFFFF"/>
                </a:solidFill>
                <a:latin typeface="Roboto"/>
                <a:cs typeface="Roboto"/>
              </a:rPr>
              <a:t>EYE-</a:t>
            </a:r>
            <a:r>
              <a:rPr sz="2800" b="1" spc="140" dirty="0">
                <a:solidFill>
                  <a:srgbClr val="FFFFFF"/>
                </a:solidFill>
                <a:latin typeface="Roboto"/>
                <a:cs typeface="Roboto"/>
              </a:rPr>
              <a:t>CATCHING</a:t>
            </a:r>
            <a:r>
              <a:rPr sz="2800" b="1" spc="100" dirty="0">
                <a:solidFill>
                  <a:srgbClr val="FFFFFF"/>
                </a:solidFill>
                <a:latin typeface="Roboto"/>
                <a:cs typeface="Roboto"/>
              </a:rPr>
              <a:t>  </a:t>
            </a:r>
            <a:r>
              <a:rPr sz="2800" b="1" spc="95" dirty="0">
                <a:solidFill>
                  <a:srgbClr val="FFFFFF"/>
                </a:solidFill>
                <a:latin typeface="Roboto"/>
                <a:cs typeface="Roboto"/>
              </a:rPr>
              <a:t>SMART </a:t>
            </a:r>
            <a:r>
              <a:rPr sz="2800" b="1" spc="80" dirty="0">
                <a:solidFill>
                  <a:srgbClr val="FFFFFF"/>
                </a:solidFill>
                <a:latin typeface="Roboto"/>
                <a:cs typeface="Roboto"/>
              </a:rPr>
              <a:t>VENDING</a:t>
            </a:r>
            <a:r>
              <a:rPr sz="2800" b="1" spc="45" dirty="0">
                <a:solidFill>
                  <a:srgbClr val="FFFFFF"/>
                </a:solidFill>
                <a:latin typeface="Roboto"/>
                <a:cs typeface="Roboto"/>
              </a:rPr>
              <a:t>  </a:t>
            </a:r>
            <a:r>
              <a:rPr sz="2800" b="1" spc="90" dirty="0">
                <a:solidFill>
                  <a:srgbClr val="FFFFFF"/>
                </a:solidFill>
                <a:latin typeface="Roboto"/>
                <a:cs typeface="Roboto"/>
              </a:rPr>
              <a:t>MACHINES</a:t>
            </a:r>
            <a:endParaRPr sz="2800" dirty="0">
              <a:latin typeface="Roboto"/>
              <a:cs typeface="Robot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959333" y="7136333"/>
            <a:ext cx="3347720" cy="220535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02400"/>
              </a:lnSpc>
              <a:spcBef>
                <a:spcPts val="15"/>
              </a:spcBef>
            </a:pPr>
            <a:r>
              <a:rPr sz="2800" b="1" spc="114" dirty="0">
                <a:solidFill>
                  <a:srgbClr val="FFFFFF"/>
                </a:solidFill>
                <a:latin typeface="Roboto"/>
                <a:cs typeface="Roboto"/>
              </a:rPr>
              <a:t>ADDITIONAL </a:t>
            </a:r>
            <a:r>
              <a:rPr sz="2800" b="1" spc="165" dirty="0">
                <a:solidFill>
                  <a:srgbClr val="FFFFFF"/>
                </a:solidFill>
                <a:latin typeface="Roboto"/>
                <a:cs typeface="Roboto"/>
              </a:rPr>
              <a:t>MONETIZATION </a:t>
            </a:r>
            <a:r>
              <a:rPr sz="2800" b="1" spc="90" dirty="0">
                <a:solidFill>
                  <a:srgbClr val="FFFFFF"/>
                </a:solidFill>
                <a:latin typeface="Roboto"/>
                <a:cs typeface="Roboto"/>
              </a:rPr>
              <a:t>THROUGH</a:t>
            </a:r>
            <a:r>
              <a:rPr sz="2800" b="1" spc="50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800" b="1" spc="105" dirty="0">
                <a:solidFill>
                  <a:srgbClr val="FFFFFF"/>
                </a:solidFill>
                <a:latin typeface="Roboto"/>
                <a:cs typeface="Roboto"/>
              </a:rPr>
              <a:t>DIGITAL </a:t>
            </a:r>
            <a:r>
              <a:rPr sz="2800" b="1" spc="65" dirty="0">
                <a:solidFill>
                  <a:srgbClr val="FFFFFF"/>
                </a:solidFill>
                <a:latin typeface="Roboto"/>
                <a:cs typeface="Roboto"/>
              </a:rPr>
              <a:t>MEDIA</a:t>
            </a:r>
            <a:endParaRPr sz="2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800" b="1" dirty="0">
                <a:solidFill>
                  <a:srgbClr val="FFFFFF"/>
                </a:solidFill>
                <a:latin typeface="Roboto"/>
                <a:cs typeface="Roboto"/>
              </a:rPr>
              <a:t>&amp;</a:t>
            </a:r>
            <a:r>
              <a:rPr sz="2800" b="1" spc="-5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800" b="1" spc="90" dirty="0">
                <a:solidFill>
                  <a:srgbClr val="FFFFFF"/>
                </a:solidFill>
                <a:latin typeface="Roboto"/>
                <a:cs typeface="Roboto"/>
              </a:rPr>
              <a:t>PARTNERSHIPS</a:t>
            </a:r>
            <a:endParaRPr sz="2800">
              <a:latin typeface="Roboto"/>
              <a:cs typeface="Robo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72376" y="7137654"/>
            <a:ext cx="3484879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SOFTWARE DEVELOPMENT </a:t>
            </a:r>
            <a:r>
              <a:rPr sz="2800" b="1" spc="-20" dirty="0">
                <a:solidFill>
                  <a:srgbClr val="FFFFFF"/>
                </a:solidFill>
                <a:latin typeface="Arial"/>
                <a:cs typeface="Arial"/>
              </a:rPr>
              <a:t>WITH 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GAMIFICATION</a:t>
            </a:r>
            <a:r>
              <a:rPr sz="2800" b="1" spc="-1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FOCUS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2800" b="1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Arial"/>
                <a:cs typeface="Arial"/>
              </a:rPr>
              <a:t>SALES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9A54848A-DFAB-C556-B457-7AA25D2C28C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7281" y="-355969"/>
            <a:ext cx="4965257" cy="6286500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1CB15034-37CD-67AF-F399-D8B15E5E4A14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10640019" y="820165"/>
            <a:ext cx="3374926" cy="46577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7F17D-EDA7-C96A-8002-F0FDDB6C9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3EEEC7A4-6424-359A-4136-D8E85062449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313400" cy="10286993"/>
          </a:xfrm>
          <a:prstGeom prst="rect">
            <a:avLst/>
          </a:prstGeom>
        </p:spPr>
      </p:pic>
      <p:sp>
        <p:nvSpPr>
          <p:cNvPr id="8" name="object 8" descr="$PPTXTitle">
            <a:extLst>
              <a:ext uri="{FF2B5EF4-FFF2-40B4-BE49-F238E27FC236}">
                <a16:creationId xmlns:a16="http://schemas.microsoft.com/office/drawing/2014/main" id="{39C4BD6D-4C1D-2D7C-8B17-9E8E6EEEA0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" y="-266700"/>
            <a:ext cx="13182600" cy="1619570"/>
          </a:xfrm>
          <a:prstGeom prst="rect">
            <a:avLst/>
          </a:prstGeom>
        </p:spPr>
        <p:txBody>
          <a:bodyPr vert="horz" wrap="square" lIns="0" tIns="491387" rIns="0" bIns="0" rtlCol="0">
            <a:spAutoFit/>
          </a:bodyPr>
          <a:lstStyle/>
          <a:p>
            <a:pPr marL="204470">
              <a:lnSpc>
                <a:spcPct val="100000"/>
              </a:lnSpc>
              <a:spcBef>
                <a:spcPts val="95"/>
              </a:spcBef>
            </a:pPr>
            <a:r>
              <a:rPr lang="pt-PT" dirty="0" err="1"/>
              <a:t>Monetization</a:t>
            </a:r>
            <a:r>
              <a:rPr lang="pt-PT" dirty="0"/>
              <a:t> &amp; </a:t>
            </a:r>
            <a:r>
              <a:rPr lang="pt-PT" dirty="0" err="1"/>
              <a:t>Validation</a:t>
            </a:r>
            <a:endParaRPr spc="-50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D0C15277-7294-85AA-A3B0-353FCDFC8EDB}"/>
              </a:ext>
            </a:extLst>
          </p:cNvPr>
          <p:cNvSpPr txBox="1"/>
          <p:nvPr/>
        </p:nvSpPr>
        <p:spPr>
          <a:xfrm>
            <a:off x="10672698" y="7830439"/>
            <a:ext cx="4665980" cy="434734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65"/>
              </a:spcBef>
            </a:pPr>
            <a:endParaRPr sz="2800" dirty="0">
              <a:latin typeface="Roboto"/>
              <a:cs typeface="Roboto"/>
            </a:endParaRP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2FAF773E-7FB7-E127-A7D6-31F41E1BB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9027" y="1485900"/>
            <a:ext cx="5952290" cy="6229030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FC6282C6-7A59-5CD3-E7B4-EEB8EB9E8B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1356" y="1485900"/>
            <a:ext cx="6482944" cy="5772799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C7E9CB76-3019-17E6-C1D7-C007E4169B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2828" y="7603060"/>
            <a:ext cx="8890000" cy="296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174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8ED52-02C2-5C7A-1F86-018525371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10" descr="$PPTXTitle">
            <a:extLst>
              <a:ext uri="{FF2B5EF4-FFF2-40B4-BE49-F238E27FC236}">
                <a16:creationId xmlns:a16="http://schemas.microsoft.com/office/drawing/2014/main" id="{494A9274-0F53-1041-76EB-230FE94994A8}"/>
              </a:ext>
            </a:extLst>
          </p:cNvPr>
          <p:cNvSpPr txBox="1">
            <a:spLocks/>
          </p:cNvSpPr>
          <p:nvPr/>
        </p:nvSpPr>
        <p:spPr>
          <a:xfrm>
            <a:off x="914400" y="571500"/>
            <a:ext cx="7465059" cy="1137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7300" b="1" i="0">
                <a:solidFill>
                  <a:schemeClr val="bg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pt-PT" spc="790" dirty="0"/>
              <a:t>MVP DEMO</a:t>
            </a:r>
            <a:endParaRPr lang="pt-PT" spc="-5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0FF6BB6A-8D2C-54A2-6447-E780190DD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8854" y="3429000"/>
            <a:ext cx="4471493" cy="6858000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D5DFE006-02DF-C563-5995-CF1A24A16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5299" y="481274"/>
            <a:ext cx="4506685" cy="6858000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751A62F0-1220-2E4E-B56D-AFC20AB350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6187" y="4000500"/>
            <a:ext cx="3962858" cy="6140125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3D8FFE35-57AA-475D-B84D-1D080656DA0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30"/>
          <a:stretch>
            <a:fillRect/>
          </a:stretch>
        </p:blipFill>
        <p:spPr>
          <a:xfrm>
            <a:off x="13868400" y="342900"/>
            <a:ext cx="3900092" cy="5941528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2F262CA8-D4EE-AECB-6F34-C3255FE053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762" y="1744514"/>
            <a:ext cx="4078438" cy="6283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982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6302058" y="2400300"/>
            <a:ext cx="5683884" cy="3636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215"/>
              </a:lnSpc>
              <a:spcBef>
                <a:spcPts val="100"/>
              </a:spcBef>
            </a:pPr>
            <a:r>
              <a:rPr sz="12000" dirty="0">
                <a:solidFill>
                  <a:srgbClr val="F83B81"/>
                </a:solidFill>
              </a:rPr>
              <a:t>T</a:t>
            </a:r>
            <a:r>
              <a:rPr sz="12000" spc="-2105" dirty="0">
                <a:solidFill>
                  <a:srgbClr val="F83B81"/>
                </a:solidFill>
              </a:rPr>
              <a:t> </a:t>
            </a:r>
            <a:r>
              <a:rPr sz="12000" dirty="0">
                <a:solidFill>
                  <a:srgbClr val="F83B81"/>
                </a:solidFill>
              </a:rPr>
              <a:t>H</a:t>
            </a:r>
            <a:r>
              <a:rPr sz="12000" spc="-2090" dirty="0">
                <a:solidFill>
                  <a:srgbClr val="F83B81"/>
                </a:solidFill>
              </a:rPr>
              <a:t> </a:t>
            </a:r>
            <a:r>
              <a:rPr sz="12000" dirty="0">
                <a:solidFill>
                  <a:srgbClr val="F83B81"/>
                </a:solidFill>
              </a:rPr>
              <a:t>A</a:t>
            </a:r>
            <a:r>
              <a:rPr sz="12000" spc="-2100" dirty="0">
                <a:solidFill>
                  <a:srgbClr val="F83B81"/>
                </a:solidFill>
              </a:rPr>
              <a:t> </a:t>
            </a:r>
            <a:r>
              <a:rPr sz="12000" spc="1315" dirty="0">
                <a:solidFill>
                  <a:srgbClr val="F83B81"/>
                </a:solidFill>
              </a:rPr>
              <a:t>N</a:t>
            </a:r>
            <a:r>
              <a:rPr sz="12000" spc="-105" dirty="0">
                <a:solidFill>
                  <a:srgbClr val="F83B81"/>
                </a:solidFill>
              </a:rPr>
              <a:t>K</a:t>
            </a:r>
            <a:endParaRPr sz="12000" dirty="0"/>
          </a:p>
          <a:p>
            <a:pPr marR="423545" algn="ctr">
              <a:lnSpc>
                <a:spcPts val="14215"/>
              </a:lnSpc>
            </a:pPr>
            <a:r>
              <a:rPr sz="12000" b="0" spc="1225" dirty="0">
                <a:latin typeface="Arial MT"/>
                <a:cs typeface="Arial MT"/>
              </a:rPr>
              <a:t>YO</a:t>
            </a:r>
            <a:r>
              <a:rPr sz="12000" b="0" spc="-55" dirty="0">
                <a:latin typeface="Arial MT"/>
                <a:cs typeface="Arial MT"/>
              </a:rPr>
              <a:t>U</a:t>
            </a:r>
            <a:endParaRPr sz="120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90715" y="6204584"/>
            <a:ext cx="4292600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20750" marR="5080" indent="-908685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FF"/>
                </a:solidFill>
                <a:latin typeface="Roboto"/>
                <a:cs typeface="Roboto"/>
              </a:rPr>
              <a:t>FOR</a:t>
            </a:r>
            <a:r>
              <a:rPr sz="3200" b="1" spc="58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200" b="1" dirty="0">
                <a:solidFill>
                  <a:srgbClr val="FFFFFF"/>
                </a:solidFill>
                <a:latin typeface="Roboto"/>
                <a:cs typeface="Roboto"/>
              </a:rPr>
              <a:t>YOUR</a:t>
            </a:r>
            <a:r>
              <a:rPr sz="3200" b="1" spc="5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200" b="1" spc="160" dirty="0">
                <a:solidFill>
                  <a:srgbClr val="FFFFFF"/>
                </a:solidFill>
                <a:latin typeface="Roboto"/>
                <a:cs typeface="Roboto"/>
              </a:rPr>
              <a:t>TIME</a:t>
            </a:r>
            <a:r>
              <a:rPr sz="3200" b="1" spc="7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200" b="1" spc="85" dirty="0">
                <a:solidFill>
                  <a:srgbClr val="FFFFFF"/>
                </a:solidFill>
                <a:latin typeface="Roboto"/>
                <a:cs typeface="Roboto"/>
              </a:rPr>
              <a:t>AND </a:t>
            </a:r>
            <a:r>
              <a:rPr sz="3200" b="1" spc="204" dirty="0">
                <a:solidFill>
                  <a:srgbClr val="FFFFFF"/>
                </a:solidFill>
                <a:latin typeface="Roboto"/>
                <a:cs typeface="Roboto"/>
              </a:rPr>
              <a:t>ATTENTION</a:t>
            </a:r>
            <a:endParaRPr sz="3200"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91081" y="-114300"/>
            <a:ext cx="3296919" cy="218338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C8ABAFF-DCAC-E321-F1DB-41A32C7FD6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42900"/>
            <a:ext cx="3832859" cy="159517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73052EFB-72E9-F8FB-714A-56F65057B9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100" y="9416669"/>
            <a:ext cx="9096900" cy="8703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81</Words>
  <Application>Microsoft Office PowerPoint</Application>
  <PresentationFormat>Personalizados</PresentationFormat>
  <Paragraphs>20</Paragraphs>
  <Slides>6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6</vt:i4>
      </vt:variant>
    </vt:vector>
  </HeadingPairs>
  <TitlesOfParts>
    <vt:vector size="12" baseType="lpstr">
      <vt:lpstr>Arial</vt:lpstr>
      <vt:lpstr>Arial MT</vt:lpstr>
      <vt:lpstr>Calibri</vt:lpstr>
      <vt:lpstr>Roboto</vt:lpstr>
      <vt:lpstr>Trebuchet MS</vt:lpstr>
      <vt:lpstr>Office Theme</vt:lpstr>
      <vt:lpstr>ZURA TOUCH</vt:lpstr>
      <vt:lpstr>THE PROBLEM</vt:lpstr>
      <vt:lpstr>OUR SOLUTION</vt:lpstr>
      <vt:lpstr>Monetization &amp; Validation</vt:lpstr>
      <vt:lpstr>Apresentação do PowerPoint</vt:lpstr>
      <vt:lpstr>T H A 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ZURA TOUCH</dc:title>
  <dc:creator>Diogo Gomes</dc:creator>
  <cp:keywords>DAG5UBbv_lg,BAFB1HAuyD8,0</cp:keywords>
  <cp:lastModifiedBy>Diogo Neves Almeida Gomes</cp:lastModifiedBy>
  <cp:revision>4</cp:revision>
  <dcterms:created xsi:type="dcterms:W3CDTF">2026-09-15T15:46:10Z</dcterms:created>
  <dcterms:modified xsi:type="dcterms:W3CDTF">2026-09-20T10:03:54Z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2026-06-25T00:00:00Z</vt:filetime>
  </property>
  <property fmtid="{D5CDD505-2E9C-101B-9397-08002B2CF9AE}" pid="4" name="Creator">
    <vt:lpwstr>Microsoft® PowerPoint® para Microsoft 365</vt:lpwstr>
  </property>
  <property fmtid="{D5CDD505-2E9C-101B-9397-08002B2CF9AE}" pid="5" name="LastSaved">
    <vt:filetime>2026-09-15T00:00:00Z</vt:filetime>
  </property>
  <property fmtid="{D5CDD505-2E9C-101B-9397-08002B2CF9AE}" pid="6" name="Producer">
    <vt:lpwstr>Microsoft® PowerPoint® para Microsoft 365</vt:lpwstr>
  </property>
</Properties>
</file>